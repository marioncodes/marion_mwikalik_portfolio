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0423-939C-43EB-A177-1F3DFE807B3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F654-6766-4F0D-9A65-A3A03B38C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133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0423-939C-43EB-A177-1F3DFE807B3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F654-6766-4F0D-9A65-A3A03B38C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384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0423-939C-43EB-A177-1F3DFE807B3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F654-6766-4F0D-9A65-A3A03B38C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28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0423-939C-43EB-A177-1F3DFE807B3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F654-6766-4F0D-9A65-A3A03B38C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05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0423-939C-43EB-A177-1F3DFE807B3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F654-6766-4F0D-9A65-A3A03B38C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642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0423-939C-43EB-A177-1F3DFE807B3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F654-6766-4F0D-9A65-A3A03B38C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531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0423-939C-43EB-A177-1F3DFE807B3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F654-6766-4F0D-9A65-A3A03B38C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678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0423-939C-43EB-A177-1F3DFE807B3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F654-6766-4F0D-9A65-A3A03B38C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623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0423-939C-43EB-A177-1F3DFE807B3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F654-6766-4F0D-9A65-A3A03B38C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179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0423-939C-43EB-A177-1F3DFE807B3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F654-6766-4F0D-9A65-A3A03B38C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08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0423-939C-43EB-A177-1F3DFE807B3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F654-6766-4F0D-9A65-A3A03B38C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597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C0423-939C-43EB-A177-1F3DFE807B3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92F654-6766-4F0D-9A65-A3A03B38C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684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YOUTH UNEMPLOYMENT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091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INTRODUCTION</a:t>
            </a:r>
            <a:br>
              <a:rPr lang="en-US" b="1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Topic focuses on youth unemployment</a:t>
            </a:r>
          </a:p>
          <a:p>
            <a:r>
              <a:rPr lang="en-US" smtClean="0"/>
              <a:t>Youth unemployment is a major challenge</a:t>
            </a:r>
          </a:p>
          <a:p>
            <a:r>
              <a:rPr lang="en-US" smtClean="0"/>
              <a:t>Africa has a young population</a:t>
            </a:r>
          </a:p>
          <a:p>
            <a:r>
              <a:rPr lang="en-US" smtClean="0"/>
              <a:t>High unemployment among youth</a:t>
            </a:r>
          </a:p>
          <a:p>
            <a:r>
              <a:rPr lang="en-US" smtClean="0"/>
              <a:t>Affects economic growth</a:t>
            </a:r>
          </a:p>
          <a:p>
            <a:r>
              <a:rPr lang="en-US" smtClean="0"/>
              <a:t>Affects social stability</a:t>
            </a:r>
          </a:p>
          <a:p>
            <a:r>
              <a:rPr lang="en-US" smtClean="0"/>
              <a:t>Threatens future development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330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UNDERSTANDING YOUTH UNEMPLOYMENT</a:t>
            </a:r>
            <a:br>
              <a:rPr lang="en-US" b="1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Refers to lack of jobs for youth</a:t>
            </a:r>
          </a:p>
          <a:p>
            <a:r>
              <a:rPr lang="en-US" smtClean="0"/>
              <a:t>Youth are willing to work</a:t>
            </a:r>
          </a:p>
          <a:p>
            <a:r>
              <a:rPr lang="en-US" smtClean="0"/>
              <a:t>Youth are able to work</a:t>
            </a:r>
          </a:p>
          <a:p>
            <a:r>
              <a:rPr lang="en-US" smtClean="0"/>
              <a:t>Rapid population growth</a:t>
            </a:r>
          </a:p>
          <a:p>
            <a:r>
              <a:rPr lang="en-US" smtClean="0"/>
              <a:t>Many youth enter labor market yearly</a:t>
            </a:r>
          </a:p>
          <a:p>
            <a:r>
              <a:rPr lang="en-US" smtClean="0"/>
              <a:t>Insufficient job creation</a:t>
            </a:r>
          </a:p>
          <a:p>
            <a:r>
              <a:rPr lang="en-US" smtClean="0"/>
              <a:t>Labor supply exceeds demand</a:t>
            </a:r>
          </a:p>
          <a:p>
            <a:r>
              <a:rPr lang="en-US" smtClean="0"/>
              <a:t>Results in high unemployment rates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39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CAUSES OF YOUTH UNEMPLOYMENT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Limited formal job opportunities</a:t>
            </a:r>
          </a:p>
          <a:p>
            <a:r>
              <a:rPr lang="en-US" smtClean="0"/>
              <a:t>Dependence on agriculture sector</a:t>
            </a:r>
          </a:p>
          <a:p>
            <a:r>
              <a:rPr lang="en-US" smtClean="0"/>
              <a:t>Growth of informal employment</a:t>
            </a:r>
          </a:p>
          <a:p>
            <a:r>
              <a:rPr lang="en-US" smtClean="0"/>
              <a:t>Skills mismatch in education</a:t>
            </a:r>
          </a:p>
          <a:p>
            <a:r>
              <a:rPr lang="en-US" smtClean="0"/>
              <a:t>Rapid population increase</a:t>
            </a:r>
          </a:p>
          <a:p>
            <a:r>
              <a:rPr lang="en-US" smtClean="0"/>
              <a:t>Economic instability</a:t>
            </a:r>
          </a:p>
          <a:p>
            <a:r>
              <a:rPr lang="en-US" smtClean="0"/>
              <a:t>Political uncertainty</a:t>
            </a:r>
          </a:p>
          <a:p>
            <a:r>
              <a:rPr lang="en-US" smtClean="0"/>
              <a:t>Low private investment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321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SKILLS AND EDUCATION CHALLENGES</a:t>
            </a:r>
            <a:br>
              <a:rPr lang="en-US" b="1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Theory-based education systems</a:t>
            </a:r>
          </a:p>
          <a:p>
            <a:r>
              <a:rPr lang="en-US" smtClean="0"/>
              <a:t>Limited practical training</a:t>
            </a:r>
          </a:p>
          <a:p>
            <a:r>
              <a:rPr lang="en-US" smtClean="0"/>
              <a:t>Lack of technical skills</a:t>
            </a:r>
          </a:p>
          <a:p>
            <a:r>
              <a:rPr lang="en-US" smtClean="0"/>
              <a:t>Weak industry–education linkage</a:t>
            </a:r>
          </a:p>
          <a:p>
            <a:r>
              <a:rPr lang="en-US" smtClean="0"/>
              <a:t>Outdated curricula</a:t>
            </a:r>
          </a:p>
          <a:p>
            <a:r>
              <a:rPr lang="en-US" smtClean="0"/>
              <a:t>Limited vocational institutions</a:t>
            </a:r>
          </a:p>
          <a:p>
            <a:r>
              <a:rPr lang="en-US" smtClean="0"/>
              <a:t>Low digital skills</a:t>
            </a:r>
          </a:p>
          <a:p>
            <a:r>
              <a:rPr lang="en-US" smtClean="0"/>
              <a:t>Poor career guidance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921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ECONOMIC AND FINANCIAL BARRIERS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Slow economic growth</a:t>
            </a:r>
          </a:p>
          <a:p>
            <a:r>
              <a:rPr lang="en-US" smtClean="0"/>
              <a:t>Limited industrialization</a:t>
            </a:r>
          </a:p>
          <a:p>
            <a:r>
              <a:rPr lang="en-US" smtClean="0"/>
              <a:t>High inflation rates</a:t>
            </a:r>
          </a:p>
          <a:p>
            <a:r>
              <a:rPr lang="en-US" smtClean="0"/>
              <a:t>Lack of startup capital</a:t>
            </a:r>
          </a:p>
          <a:p>
            <a:r>
              <a:rPr lang="en-US" smtClean="0"/>
              <a:t>Difficult access to loans</a:t>
            </a:r>
          </a:p>
          <a:p>
            <a:r>
              <a:rPr lang="en-US" smtClean="0"/>
              <a:t>High interest rates</a:t>
            </a:r>
          </a:p>
          <a:p>
            <a:r>
              <a:rPr lang="en-US" smtClean="0"/>
              <a:t>Few youth funding programs</a:t>
            </a:r>
          </a:p>
          <a:p>
            <a:r>
              <a:rPr lang="en-US" smtClean="0"/>
              <a:t>Weak entrepreneurial support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047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IMPACTS OF YOUTH UNEMPLOYMENT</a:t>
            </a:r>
            <a:br>
              <a:rPr lang="en-US" b="1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Increased youth poverty</a:t>
            </a:r>
          </a:p>
          <a:p>
            <a:r>
              <a:rPr lang="en-US" smtClean="0"/>
              <a:t>Rising inequality levels</a:t>
            </a:r>
          </a:p>
          <a:p>
            <a:r>
              <a:rPr lang="en-US" smtClean="0"/>
              <a:t>Increased crime rates</a:t>
            </a:r>
          </a:p>
          <a:p>
            <a:r>
              <a:rPr lang="en-US" smtClean="0"/>
              <a:t>Drug and substance abuse</a:t>
            </a:r>
          </a:p>
          <a:p>
            <a:r>
              <a:rPr lang="en-US" smtClean="0"/>
              <a:t>Social unrest</a:t>
            </a:r>
          </a:p>
          <a:p>
            <a:r>
              <a:rPr lang="en-US" smtClean="0"/>
              <a:t>Loss of skills</a:t>
            </a:r>
          </a:p>
          <a:p>
            <a:r>
              <a:rPr lang="en-US" smtClean="0"/>
              <a:t>Reduced motivation</a:t>
            </a:r>
          </a:p>
          <a:p>
            <a:r>
              <a:rPr lang="en-US" smtClean="0"/>
              <a:t>Slowed national development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403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EDUCATION AND SKILLS SOLUTIONS</a:t>
            </a:r>
            <a:br>
              <a:rPr lang="en-US" b="1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Market-driven education reforms</a:t>
            </a:r>
          </a:p>
          <a:p>
            <a:r>
              <a:rPr lang="en-US" smtClean="0"/>
              <a:t>Practical skills training</a:t>
            </a:r>
          </a:p>
          <a:p>
            <a:r>
              <a:rPr lang="en-US" smtClean="0"/>
              <a:t>Expanded vocational training</a:t>
            </a:r>
          </a:p>
          <a:p>
            <a:r>
              <a:rPr lang="en-US" smtClean="0"/>
              <a:t>Digital skills development</a:t>
            </a:r>
          </a:p>
          <a:p>
            <a:r>
              <a:rPr lang="en-US" smtClean="0"/>
              <a:t>Internship opportunities</a:t>
            </a:r>
          </a:p>
          <a:p>
            <a:r>
              <a:rPr lang="en-US" smtClean="0"/>
              <a:t>Apprenticeship programs</a:t>
            </a:r>
          </a:p>
          <a:p>
            <a:r>
              <a:rPr lang="en-US" smtClean="0"/>
              <a:t>Career mentorship</a:t>
            </a:r>
          </a:p>
          <a:p>
            <a:r>
              <a:rPr lang="en-US" smtClean="0"/>
              <a:t>Industry partnerships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420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ENTREPRENEURSHIP AND INNOVATION</a:t>
            </a:r>
            <a:br>
              <a:rPr lang="en-US" b="1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Promote youth entrepreneurship</a:t>
            </a:r>
          </a:p>
          <a:p>
            <a:r>
              <a:rPr lang="en-US" smtClean="0"/>
              <a:t>Business skills training</a:t>
            </a:r>
          </a:p>
          <a:p>
            <a:r>
              <a:rPr lang="en-US" smtClean="0"/>
              <a:t>Access to startup funding</a:t>
            </a:r>
          </a:p>
          <a:p>
            <a:r>
              <a:rPr lang="en-US" smtClean="0"/>
              <a:t>Mentorship programs</a:t>
            </a:r>
          </a:p>
          <a:p>
            <a:r>
              <a:rPr lang="en-US" smtClean="0"/>
              <a:t>Innovation hubs</a:t>
            </a:r>
          </a:p>
          <a:p>
            <a:r>
              <a:rPr lang="en-US" smtClean="0"/>
              <a:t>Technology-based solutions</a:t>
            </a:r>
          </a:p>
          <a:p>
            <a:r>
              <a:rPr lang="en-US" smtClean="0"/>
              <a:t>Support startups</a:t>
            </a:r>
          </a:p>
          <a:p>
            <a:r>
              <a:rPr lang="en-US" smtClean="0"/>
              <a:t>Encourage self-employment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343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GOVERNMENT AND POLICY SOLUTIONS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Youth-friendly policies</a:t>
            </a:r>
          </a:p>
          <a:p>
            <a:r>
              <a:rPr lang="en-US" smtClean="0"/>
              <a:t>Support private sector growth</a:t>
            </a:r>
          </a:p>
          <a:p>
            <a:r>
              <a:rPr lang="en-US" smtClean="0"/>
              <a:t>Job creation incentives</a:t>
            </a:r>
          </a:p>
          <a:p>
            <a:r>
              <a:rPr lang="en-US" smtClean="0"/>
              <a:t>Investment-friendly environment</a:t>
            </a:r>
          </a:p>
          <a:p>
            <a:r>
              <a:rPr lang="en-US" smtClean="0"/>
              <a:t>Stable political systems</a:t>
            </a:r>
          </a:p>
          <a:p>
            <a:r>
              <a:rPr lang="en-US" smtClean="0"/>
              <a:t>Improved infrastructure</a:t>
            </a:r>
          </a:p>
          <a:p>
            <a:r>
              <a:rPr lang="en-US" smtClean="0"/>
              <a:t>Reduced business barriers</a:t>
            </a:r>
          </a:p>
          <a:p>
            <a:r>
              <a:rPr lang="en-US" smtClean="0"/>
              <a:t>Public–private partnerships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577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HIGH EMPLOYMENT POTENTIAL SECTORS</a:t>
            </a:r>
            <a:br>
              <a:rPr lang="en-US" b="1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Agriculture modernization</a:t>
            </a:r>
          </a:p>
          <a:p>
            <a:r>
              <a:rPr lang="en-US" smtClean="0"/>
              <a:t>Manufacturing industries</a:t>
            </a:r>
          </a:p>
          <a:p>
            <a:r>
              <a:rPr lang="en-US" smtClean="0"/>
              <a:t>Information technology</a:t>
            </a:r>
          </a:p>
          <a:p>
            <a:r>
              <a:rPr lang="en-US" smtClean="0"/>
              <a:t>Renewable energy sector</a:t>
            </a:r>
          </a:p>
          <a:p>
            <a:r>
              <a:rPr lang="en-US" smtClean="0"/>
              <a:t>Creative industries</a:t>
            </a:r>
          </a:p>
          <a:p>
            <a:r>
              <a:rPr lang="en-US" smtClean="0"/>
              <a:t>Construction sector</a:t>
            </a:r>
          </a:p>
          <a:p>
            <a:r>
              <a:rPr lang="en-US" smtClean="0"/>
              <a:t>Blue economy</a:t>
            </a:r>
          </a:p>
          <a:p>
            <a:r>
              <a:rPr lang="en-US" smtClean="0"/>
              <a:t>Service industries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827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ROLE OF TECHNOLOGY</a:t>
            </a:r>
            <a:br>
              <a:rPr lang="en-US" b="1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Digital job platforms</a:t>
            </a:r>
          </a:p>
          <a:p>
            <a:r>
              <a:rPr lang="en-US" smtClean="0"/>
              <a:t>Online freelancing</a:t>
            </a:r>
          </a:p>
          <a:p>
            <a:r>
              <a:rPr lang="en-US" smtClean="0"/>
              <a:t>Remote work opportunities</a:t>
            </a:r>
          </a:p>
          <a:p>
            <a:r>
              <a:rPr lang="en-US" smtClean="0"/>
              <a:t>Tech innovation startups</a:t>
            </a:r>
          </a:p>
          <a:p>
            <a:r>
              <a:rPr lang="en-US" smtClean="0"/>
              <a:t>E-commerce businesses</a:t>
            </a:r>
          </a:p>
          <a:p>
            <a:r>
              <a:rPr lang="en-US" smtClean="0"/>
              <a:t>ICT skill development</a:t>
            </a:r>
          </a:p>
          <a:p>
            <a:r>
              <a:rPr lang="en-US" smtClean="0"/>
              <a:t>Automation adaptation</a:t>
            </a:r>
          </a:p>
          <a:p>
            <a:r>
              <a:rPr lang="en-US" smtClean="0"/>
              <a:t>Technology-driven growth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32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ROLE OF COMMUNITIES</a:t>
            </a:r>
            <a:br>
              <a:rPr lang="en-US" b="1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Community mentorship</a:t>
            </a:r>
          </a:p>
          <a:p>
            <a:r>
              <a:rPr lang="en-US" smtClean="0"/>
              <a:t>Local skill development</a:t>
            </a:r>
          </a:p>
          <a:p>
            <a:r>
              <a:rPr lang="en-US" smtClean="0"/>
              <a:t>Youth empowerment programs</a:t>
            </a:r>
          </a:p>
          <a:p>
            <a:r>
              <a:rPr lang="en-US" smtClean="0"/>
              <a:t>Support small businesses</a:t>
            </a:r>
          </a:p>
          <a:p>
            <a:r>
              <a:rPr lang="en-US" smtClean="0"/>
              <a:t>Encourage innovation</a:t>
            </a:r>
          </a:p>
          <a:p>
            <a:r>
              <a:rPr lang="en-US" smtClean="0"/>
              <a:t>Promote positive values</a:t>
            </a:r>
          </a:p>
          <a:p>
            <a:r>
              <a:rPr lang="en-US" smtClean="0"/>
              <a:t>Reduce social stigma</a:t>
            </a:r>
          </a:p>
          <a:p>
            <a:r>
              <a:rPr lang="en-US" smtClean="0"/>
              <a:t>Provide guidance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924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ROLE OF YOUTH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Be proactive in learning</a:t>
            </a:r>
          </a:p>
          <a:p>
            <a:r>
              <a:rPr lang="en-US" smtClean="0"/>
              <a:t>Acquire relevant skills</a:t>
            </a:r>
          </a:p>
          <a:p>
            <a:r>
              <a:rPr lang="en-US" smtClean="0"/>
              <a:t>Embrace entrepreneurship</a:t>
            </a:r>
          </a:p>
          <a:p>
            <a:r>
              <a:rPr lang="en-US" smtClean="0"/>
              <a:t>Adapt to job market changes</a:t>
            </a:r>
          </a:p>
          <a:p>
            <a:r>
              <a:rPr lang="en-US" smtClean="0"/>
              <a:t>Network effectively</a:t>
            </a:r>
          </a:p>
          <a:p>
            <a:r>
              <a:rPr lang="en-US" smtClean="0"/>
              <a:t>Use technology</a:t>
            </a:r>
          </a:p>
          <a:p>
            <a:r>
              <a:rPr lang="en-US" smtClean="0"/>
              <a:t>Seek mentorship</a:t>
            </a:r>
          </a:p>
          <a:p>
            <a:r>
              <a:rPr lang="en-US" smtClean="0"/>
              <a:t>Maintain positive attitude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56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CHALLENGES IN IMPLEMENTING SOLUTIONS</a:t>
            </a:r>
            <a:br>
              <a:rPr lang="en-US" b="1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Limited funding</a:t>
            </a:r>
          </a:p>
          <a:p>
            <a:r>
              <a:rPr lang="en-US" smtClean="0"/>
              <a:t>Policy implementation delays</a:t>
            </a:r>
          </a:p>
          <a:p>
            <a:r>
              <a:rPr lang="en-US" smtClean="0"/>
              <a:t>Resistance to change</a:t>
            </a:r>
          </a:p>
          <a:p>
            <a:r>
              <a:rPr lang="en-US" smtClean="0"/>
              <a:t>Corruption challenges</a:t>
            </a:r>
          </a:p>
          <a:p>
            <a:r>
              <a:rPr lang="en-US" smtClean="0"/>
              <a:t>Infrastructure gaps</a:t>
            </a:r>
          </a:p>
          <a:p>
            <a:r>
              <a:rPr lang="en-US" smtClean="0"/>
              <a:t>Low digital access</a:t>
            </a:r>
          </a:p>
          <a:p>
            <a:r>
              <a:rPr lang="en-US" smtClean="0"/>
              <a:t>Unequal opportunities</a:t>
            </a:r>
          </a:p>
          <a:p>
            <a:r>
              <a:rPr lang="en-US" smtClean="0"/>
              <a:t>Weak coordination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0054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WAY FORWARD</a:t>
            </a:r>
            <a:br>
              <a:rPr lang="en-US" b="1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Strengthen education systems</a:t>
            </a:r>
          </a:p>
          <a:p>
            <a:r>
              <a:rPr lang="en-US" smtClean="0"/>
              <a:t>Support youth-led initiatives</a:t>
            </a:r>
          </a:p>
          <a:p>
            <a:r>
              <a:rPr lang="en-US" smtClean="0"/>
              <a:t>Improve access to finance</a:t>
            </a:r>
          </a:p>
          <a:p>
            <a:r>
              <a:rPr lang="en-US" smtClean="0"/>
              <a:t>Enhance policy enforcement</a:t>
            </a:r>
          </a:p>
          <a:p>
            <a:r>
              <a:rPr lang="en-US" smtClean="0"/>
              <a:t>Invest in technology</a:t>
            </a:r>
          </a:p>
          <a:p>
            <a:r>
              <a:rPr lang="en-US" smtClean="0"/>
              <a:t>Encourage innovation culture</a:t>
            </a:r>
          </a:p>
          <a:p>
            <a:r>
              <a:rPr lang="en-US" smtClean="0"/>
              <a:t>Foster partnerships</a:t>
            </a:r>
          </a:p>
          <a:p>
            <a:r>
              <a:rPr lang="en-US" smtClean="0"/>
              <a:t>Empower youth leadership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3405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OPPORTUNITIES IN YOUTH UNEMPLOYMENT</a:t>
            </a:r>
            <a:br>
              <a:rPr lang="en-US" b="1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Large labor force</a:t>
            </a:r>
          </a:p>
          <a:p>
            <a:r>
              <a:rPr lang="en-US" smtClean="0"/>
              <a:t>Innovation potential</a:t>
            </a:r>
          </a:p>
          <a:p>
            <a:r>
              <a:rPr lang="en-US" smtClean="0"/>
              <a:t>Entrepreneurship growth</a:t>
            </a:r>
          </a:p>
          <a:p>
            <a:r>
              <a:rPr lang="en-US" smtClean="0"/>
              <a:t>Digital economy expansion</a:t>
            </a:r>
          </a:p>
          <a:p>
            <a:r>
              <a:rPr lang="en-US" smtClean="0"/>
              <a:t>Regional markets</a:t>
            </a:r>
          </a:p>
          <a:p>
            <a:r>
              <a:rPr lang="en-US" smtClean="0"/>
              <a:t>Creative industries growth</a:t>
            </a:r>
          </a:p>
          <a:p>
            <a:r>
              <a:rPr lang="en-US" smtClean="0"/>
              <a:t>Skills development</a:t>
            </a:r>
          </a:p>
          <a:p>
            <a:r>
              <a:rPr lang="en-US" smtClean="0"/>
              <a:t>Economic transformation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5853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CASE FOR COLLECTIVE ACTION</a:t>
            </a:r>
            <a:br>
              <a:rPr lang="en-US" b="1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Government involvement</a:t>
            </a:r>
          </a:p>
          <a:p>
            <a:r>
              <a:rPr lang="en-US" smtClean="0"/>
              <a:t>Private sector participation</a:t>
            </a:r>
          </a:p>
          <a:p>
            <a:r>
              <a:rPr lang="en-US" smtClean="0"/>
              <a:t>Community engagement</a:t>
            </a:r>
          </a:p>
          <a:p>
            <a:r>
              <a:rPr lang="en-US" smtClean="0"/>
              <a:t>Educational institutions role</a:t>
            </a:r>
          </a:p>
          <a:p>
            <a:r>
              <a:rPr lang="en-US" smtClean="0"/>
              <a:t>Youth participation</a:t>
            </a:r>
          </a:p>
          <a:p>
            <a:r>
              <a:rPr lang="en-US" smtClean="0"/>
              <a:t>NGO support</a:t>
            </a:r>
          </a:p>
          <a:p>
            <a:r>
              <a:rPr lang="en-US" smtClean="0"/>
              <a:t>International partnerships</a:t>
            </a:r>
          </a:p>
          <a:p>
            <a:r>
              <a:rPr lang="en-US" smtClean="0"/>
              <a:t>Shared responsibility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3288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AFRICA’S FUTURE WITH EMPLOYED YOUTH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Reduced poverty levels</a:t>
            </a:r>
          </a:p>
          <a:p>
            <a:r>
              <a:rPr lang="en-US" smtClean="0"/>
              <a:t>Improved economic growth</a:t>
            </a:r>
          </a:p>
          <a:p>
            <a:r>
              <a:rPr lang="en-US" smtClean="0"/>
              <a:t>Social stability</a:t>
            </a:r>
          </a:p>
          <a:p>
            <a:r>
              <a:rPr lang="en-US" smtClean="0"/>
              <a:t>Innovation-driven economies</a:t>
            </a:r>
          </a:p>
          <a:p>
            <a:r>
              <a:rPr lang="en-US" smtClean="0"/>
              <a:t>Skilled workforce</a:t>
            </a:r>
          </a:p>
          <a:p>
            <a:r>
              <a:rPr lang="en-US" smtClean="0"/>
              <a:t>Strong communities</a:t>
            </a:r>
          </a:p>
          <a:p>
            <a:r>
              <a:rPr lang="en-US" smtClean="0"/>
              <a:t>Sustainable development</a:t>
            </a:r>
          </a:p>
          <a:p>
            <a:r>
              <a:rPr lang="en-US" smtClean="0"/>
              <a:t>Global competitiveness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738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CONCLUSION</a:t>
            </a:r>
            <a:br>
              <a:rPr lang="en-US" b="1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Youth unemployment is critical</a:t>
            </a:r>
          </a:p>
          <a:p>
            <a:r>
              <a:rPr lang="en-US" smtClean="0"/>
              <a:t>Requires urgent action</a:t>
            </a:r>
          </a:p>
          <a:p>
            <a:r>
              <a:rPr lang="en-US" smtClean="0"/>
              <a:t>Education reform is key</a:t>
            </a:r>
          </a:p>
          <a:p>
            <a:r>
              <a:rPr lang="en-US" smtClean="0"/>
              <a:t>Entrepreneurship is essential</a:t>
            </a:r>
          </a:p>
          <a:p>
            <a:r>
              <a:rPr lang="en-US" smtClean="0"/>
              <a:t>Technology offers solutions</a:t>
            </a:r>
          </a:p>
          <a:p>
            <a:r>
              <a:rPr lang="en-US" smtClean="0"/>
              <a:t>Policy support is necessary</a:t>
            </a:r>
          </a:p>
          <a:p>
            <a:r>
              <a:rPr lang="en-US" smtClean="0"/>
              <a:t>Youth are change agents</a:t>
            </a:r>
          </a:p>
          <a:p>
            <a:r>
              <a:rPr lang="en-US" smtClean="0"/>
              <a:t>Collective action is vital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481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501</Words>
  <Application>Microsoft Office PowerPoint</Application>
  <PresentationFormat>Widescreen</PresentationFormat>
  <Paragraphs>171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YOUTH UNEMPLOYMENT</vt:lpstr>
      <vt:lpstr>INTRODUCTION </vt:lpstr>
      <vt:lpstr>UNDERSTANDING YOUTH UNEMPLOYMENT </vt:lpstr>
      <vt:lpstr>CAUSES OF YOUTH UNEMPLOYMENT</vt:lpstr>
      <vt:lpstr>SKILLS AND EDUCATION CHALLENGES </vt:lpstr>
      <vt:lpstr>ECONOMIC AND FINANCIAL BARRIERS</vt:lpstr>
      <vt:lpstr>IMPACTS OF YOUTH UNEMPLOYMENT </vt:lpstr>
      <vt:lpstr>EDUCATION AND SKILLS SOLUTIONS </vt:lpstr>
      <vt:lpstr>ENTREPRENEURSHIP AND INNOVATION </vt:lpstr>
      <vt:lpstr>GOVERNMENT AND POLICY SOLUTIONS</vt:lpstr>
      <vt:lpstr>HIGH EMPLOYMENT POTENTIAL SECTORS </vt:lpstr>
      <vt:lpstr>ROLE OF TECHNOLOGY </vt:lpstr>
      <vt:lpstr>ROLE OF COMMUNITIES </vt:lpstr>
      <vt:lpstr>ROLE OF YOUTH</vt:lpstr>
      <vt:lpstr>CHALLENGES IN IMPLEMENTING SOLUTIONS </vt:lpstr>
      <vt:lpstr>WAY FORWARD </vt:lpstr>
      <vt:lpstr>OPPORTUNITIES IN YOUTH UNEMPLOYMENT </vt:lpstr>
      <vt:lpstr>CASE FOR COLLECTIVE ACTION </vt:lpstr>
      <vt:lpstr>AFRICA’S FUTURE WITH EMPLOYED YOUTH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Marion kinyamasyo</dc:creator>
  <cp:lastModifiedBy>Marion kinyamasyo</cp:lastModifiedBy>
  <cp:revision>3</cp:revision>
  <dcterms:created xsi:type="dcterms:W3CDTF">2026-01-18T21:11:23Z</dcterms:created>
  <dcterms:modified xsi:type="dcterms:W3CDTF">2026-01-26T09:30:48Z</dcterms:modified>
</cp:coreProperties>
</file>